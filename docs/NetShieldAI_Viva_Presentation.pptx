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F5F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1F5F9"/>
                </a:solidFill>
                <a:latin typeface="Arial"/>
              </a:rPr>
              <a:t>Rows per category (log scale)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 (log scale)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BENIGN</c:v>
                  </c:pt>
                  <c:pt idx="1">
                    <c:v>DoS / DDoS</c:v>
                  </c:pt>
                  <c:pt idx="2">
                    <c:v>Port Scanning</c:v>
                  </c:pt>
                  <c:pt idx="3">
                    <c:v>Brute Force</c:v>
                  </c:pt>
                  <c:pt idx="4">
                    <c:v>Botnet Activity</c:v>
                  </c:pt>
                  <c:pt idx="5">
                    <c:v>Malware Traffic</c:v>
                  </c:pt>
                  <c:pt idx="6">
                    <c:v>Data Exfiltration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2096484</c:v>
                </c:pt>
                <c:pt idx="1">
                  <c:v>321764</c:v>
                </c:pt>
                <c:pt idx="2">
                  <c:v>90819</c:v>
                </c:pt>
                <c:pt idx="3">
                  <c:v>10622</c:v>
                </c:pt>
                <c:pt idx="4">
                  <c:v>1954</c:v>
                </c:pt>
                <c:pt idx="5">
                  <c:v>684</c:v>
                </c:pt>
                <c:pt idx="6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F5F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1F5F9"/>
                </a:solidFill>
                <a:latin typeface="Arial"/>
              </a:rPr>
              <a:t>Test-set risk tiers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B1220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B1220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B1220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12697</c:v>
                </c:pt>
                <c:pt idx="1">
                  <c:v>917</c:v>
                </c:pt>
                <c:pt idx="2">
                  <c:v>6669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Autoencoder accuracy (%)</c:v>
                </c:pt>
              </c:strCache>
            </c:strRef>
          </c:tx>
          <c:spPr>
            <a:solidFill>
              <a:srgbClr val="22D3EE"/>
            </a:solidFill>
            <a:ln w="3175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Original</c:v>
                  </c:pt>
                  <c:pt idx="1">
                    <c:v>+Windowing
fix</c:v>
                  </c:pt>
                  <c:pt idx="2">
                    <c:v>+Leakage/mislabel
fixes</c:v>
                  </c:pt>
                  <c:pt idx="3">
                    <c:v>+Duplicate
removal</c:v>
                  </c:pt>
                  <c:pt idx="4">
                    <c:v>Current
(retrained)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57.6</c:v>
                </c:pt>
                <c:pt idx="2">
                  <c:v>58.7</c:v>
                </c:pt>
                <c:pt idx="3">
                  <c:v>68.8</c:v>
                </c:pt>
                <c:pt idx="4">
                  <c:v>66.8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BiLSTM accuracy (%)</c:v>
                </c:pt>
              </c:strCache>
            </c:strRef>
          </c:tx>
          <c:spPr>
            <a:solidFill>
              <a:srgbClr val="34D399"/>
            </a:solidFill>
            <a:ln w="31750" cap="flat">
              <a:solidFill>
                <a:srgbClr val="34D3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Original</c:v>
                  </c:pt>
                  <c:pt idx="1">
                    <c:v>+Windowing
fix</c:v>
                  </c:pt>
                  <c:pt idx="2">
                    <c:v>+Leakage/mislabel
fixes</c:v>
                  </c:pt>
                  <c:pt idx="3">
                    <c:v>+Duplicate
removal</c:v>
                  </c:pt>
                  <c:pt idx="4">
                    <c:v>Current
(retrained)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99.25</c:v>
                </c:pt>
                <c:pt idx="1">
                  <c:v>99.06</c:v>
                </c:pt>
                <c:pt idx="2">
                  <c:v>99.29</c:v>
                </c:pt>
                <c:pt idx="3">
                  <c:v>96.07</c:v>
                </c:pt>
                <c:pt idx="4">
                  <c:v>95.83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1F5F9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NETSHIELD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41248" y="32461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Predictive Analytics Framework for Adaptive Cyber Threat Detection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" y="3886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anomaly detection  ·  BiLSTM classification  ·  Hybrid risk fusion  ·  SHAP explainability  ·  Analyst feedback loop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5989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Name(s)]   ·   [USN]   ·   Guide: [Fill in]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intrusion detection falls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93392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/ signature-based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50592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unknown, zero-day, or slowly evolving attacks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410712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Classification-only AI models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867912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behaviour analysis, no explanation of decisions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828032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adaptive learning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improve from analyst-validated feedback over time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987552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0253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984248"/>
            <a:ext cx="431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preprocess network traffic into meaningful features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1874520"/>
            <a:ext cx="5364328" cy="987552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1608" y="200253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47408" y="1984248"/>
            <a:ext cx="431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Autoencoder-based anomaly detection on normal traffic behaviour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5364328" cy="987552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17296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431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BiLSTM-based temporal classification of attack types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8728" y="3044952"/>
            <a:ext cx="5364328" cy="987552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1608" y="317296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47408" y="3154680"/>
            <a:ext cx="431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for interpretable model decisions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5364328" cy="987552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3434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17320" y="4325112"/>
            <a:ext cx="431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&amp; reporting mechanism for security administrators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8728" y="4215384"/>
            <a:ext cx="5364328" cy="987552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61608" y="43434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47408" y="4325112"/>
            <a:ext cx="431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feedback loop for continuous model improvement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385816"/>
            <a:ext cx="5364328" cy="987552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551383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417320" y="5495544"/>
            <a:ext cx="431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intelligent, adaptive cybersecurity framework, end to 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Sequential-Gate Detection Pipeline</a:t>
            </a:r>
            <a:endParaRPr lang="en-US" sz="3000" dirty="0"/>
          </a:p>
        </p:txBody>
      </p:sp>
      <p:pic>
        <p:nvPicPr>
          <p:cNvPr id="4" name="Image 0" descr="E:\NetShield_AI\NetShieldAI1\docs\pipeline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34440"/>
            <a:ext cx="4754880" cy="525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2971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gates every window first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anomalous windows reach BiLSTM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risk fusion turns model output into Low / Medium / High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Medium/High alerts</a:t>
            </a:r>
            <a:endParaRPr lang="en-US" sz="13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feedback closes the loop back into retraining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778240" y="173736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61120" y="21945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caps overall recall at ~54% — a deliberate architectural choice, not a bug.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CICIDS2017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2.52M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50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loaded, 8 capture-day files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4472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(Destination Port excluded — leakage)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+ 1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4544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categories, plus BENIGN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749040" y="1600200"/>
          <a:ext cx="7863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Fixes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7568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6596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 fix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90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windows never span two different capture-day files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8728" y="182880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07328" y="207568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781648" y="196596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removal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07328" y="2377440"/>
            <a:ext cx="490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Port excluded — attacks target fixed ports in this testbed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49300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8328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Mislabel handling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490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Unrecognized labels excluded &amp; counted, not silently mis-bucketed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8728" y="324612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7328" y="349300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781648" y="338328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Low-sample warning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07328" y="3794760"/>
            <a:ext cx="490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under 200 samples flagged automatically (Data Exfiltration: 36)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91032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80060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212080"/>
            <a:ext cx="490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 exact-duplicate rows dropped before windowing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78728" y="466344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07328" y="491032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6781648" y="480060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07328" y="5212080"/>
            <a:ext cx="490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Evaluated, hurt BiLSTM precision — kept as opt-in, not default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— Anomaly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encoder → 32-dim latent → LSTM decoder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only on BENIGN windows — learns what “normal” looks like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= how far a window deviates from normal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calibrated on validation data (balanced-accuracy strategy), not hardcoded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windows are the only ones passed to the BiLSTM classifier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78308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0" y="1920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0" y="24871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anomaly threshold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40880" y="315468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0" y="32918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0" y="38587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on test set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— Threat Classification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LSTM, class-weighted for imbalance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only on attack windows — never sees BENIGN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runs on windows the Autoencoder already flagged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into 6 attack categories from the dataset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quality tracks sample count — a data-scarcity signal, not overfitting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78308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0" y="1920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0" y="24871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windows it sees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40880" y="315468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0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23544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235440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weighted-F1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Risk Fusion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= max( normalized anomaly score, classifier confidence 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6309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logic: every classified window was marked “High” — zero triage value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a window can only be pulled UP toward classifier confidence, never below the anomaly gate's own signal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Low/Medium/High thresholds calibrated from real validation-set score distributions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589520" y="1600200"/>
          <a:ext cx="4023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Why the Model Flagged This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7665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GradientExplainer — works natively on the Keras models used here</a:t>
            </a:r>
            <a:endParaRPr lang="en-US" sz="150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KernelExplainer, which was slow and unreliable at practical sample counts on a 770-dim flattened window</a:t>
            </a:r>
            <a:endParaRPr lang="en-US" sz="150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verified: ran SHAP twice on the same window → same top feature both times, 7 of top 8 features overlapping</a:t>
            </a:r>
            <a:endParaRPr lang="en-US" sz="150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Medium/High alert ships with its top contributing features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0" y="1920240"/>
            <a:ext cx="3931920" cy="3749040"/>
          </a:xfrm>
          <a:prstGeom prst="roundRect">
            <a:avLst>
              <a:gd name="adj" fmla="val 1951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explaining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2606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 ms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955280" y="31729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 per explained alert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0" y="352044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expensive pipeline stage — only run on Medium/High alerts, never on the full traffic stream.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Improvement Across Fixes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BiLSTM's dip after duplicate removal corrects previously inflated numbers — not a real capability loss (weighted-F1 barely moved: 0.994 → 0.970).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Confusion Matrix (Test Set)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89320" y="1691640"/>
            <a:ext cx="56235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E:\NetShield_AI\NetShieldAI1\reports\figures\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828800"/>
            <a:ext cx="534924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2024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DoS/DDoS and Port Scanning — the well-supported classes — stay strong: F1 0.978 and 0.996</a:t>
            </a:r>
            <a:endParaRPr lang="en-US" sz="14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classes (Botnet, Malware, Data Exfiltration) show more confusion — tracks sample count, not classic overfitting</a:t>
            </a:r>
            <a:endParaRPr lang="en-US" sz="14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Exfiltration: only 1 test-set example — not statistically meaningful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&amp; Per-Class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63640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E:\NetShield_AI\NetShieldAI1\reports\figures\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2" y="1801368"/>
            <a:ext cx="5157216" cy="3941064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394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61288"/>
                <a:gridCol w="1161288"/>
                <a:gridCol w="115214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Botnet Activity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0.108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0.644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0.983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Brute Force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0.697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0.738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DoS / DDoS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Malware Traffic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0.180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0.960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Port Scanning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1.000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1663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looks excellent even where precision is weak — it's a ranking metric, not a substitute for precision/recall on imbalanced data.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828800"/>
            <a:ext cx="9601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E:\NetShield_AI\NetShieldAI1\reports\figures\reconstruction_error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20240"/>
            <a:ext cx="932688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5852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threshold (0.834) sits in the overlap — trading some missed attacks for fewer BENIGN false alarms, by design.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Benchmark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0" y="1691640"/>
            <a:ext cx="49377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E:\NetShield_AI\NetShieldAI1\reports\figures\latency_hist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1874520"/>
            <a:ext cx="4718304" cy="196596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760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</a:rPr>
                        <a:t>Stage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</a:rPr>
                        <a:t>Mean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</a:rPr>
                        <a:t>P95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Autoencoder only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161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268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Autoencoder + BiLSTM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400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727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SHAP alone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670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1163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Full pipeline (blended)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521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1745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70916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4846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note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77240" y="516636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CPU-only hardware (no discrete GPU). Absolute numbers scale with hardware — the relative shape (SHAP costliest, Autoencoder cheapest) is what's architecturally meaningful.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&amp; Stream Simulator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MySQL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trained pipeline once at startup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· feedback · training_runs tables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endpoints: ingest, alerts, stats, feedback, retrain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cyber_ai.predict's exact scoring logic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Simulator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a CSV in small paced chunks, not one batch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alerts arrive over real time — not one instant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flat time-series chart into an actual trend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limitation: windows can't span a chunk boundary (no server-side state yet)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→ Retrain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36003" cy="3566160"/>
          </a:xfrm>
          <a:prstGeom prst="roundRect">
            <a:avLst>
              <a:gd name="adj" fmla="val 3593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2322" y="233172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20360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76168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submits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1761683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/api/feedback with a validated label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3243" y="2103120"/>
            <a:ext cx="2036003" cy="3566160"/>
          </a:xfrm>
          <a:prstGeom prst="roundRect">
            <a:avLst>
              <a:gd name="adj" fmla="val 3593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56925" y="233172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2813243" y="2331720"/>
            <a:ext cx="20360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50403" y="3063240"/>
            <a:ext cx="176168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50403" y="3657600"/>
            <a:ext cx="1761683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to the retraining feedback CSV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77846" y="2103120"/>
            <a:ext cx="2036003" cy="3566160"/>
          </a:xfrm>
          <a:prstGeom prst="roundRect">
            <a:avLst>
              <a:gd name="adj" fmla="val 3593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21528" y="233172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5077846" y="2331720"/>
            <a:ext cx="20360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5006" y="3063240"/>
            <a:ext cx="176168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triggered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5006" y="3657600"/>
            <a:ext cx="1761683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/api/retrain runs cyber_ai.train in the background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42449" y="2103120"/>
            <a:ext cx="2036003" cy="3566160"/>
          </a:xfrm>
          <a:prstGeom prst="roundRect">
            <a:avLst>
              <a:gd name="adj" fmla="val 3593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86131" y="233172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7342449" y="2331720"/>
            <a:ext cx="20360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79609" y="3063240"/>
            <a:ext cx="176168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minutes later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79609" y="3657600"/>
            <a:ext cx="1761683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completes, new metrics recorded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07052" y="2103120"/>
            <a:ext cx="2036003" cy="3566160"/>
          </a:xfrm>
          <a:prstGeom prst="roundRect">
            <a:avLst>
              <a:gd name="adj" fmla="val 3593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50734" y="233172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9607052" y="2331720"/>
            <a:ext cx="20360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44212" y="3063240"/>
            <a:ext cx="176168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Auto-reloaded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44212" y="3657600"/>
            <a:ext cx="1761683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picks up the new model — no restart needed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end to end — not just wired up: re-scored the demo CSV immediately after and got consistent, correct predictions.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Demo Walkthrough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467351" cy="1005840"/>
          </a:xfrm>
          <a:prstGeom prst="roundRect">
            <a:avLst>
              <a:gd name="adj" fmla="val 7273"/>
            </a:avLst>
          </a:prstGeom>
          <a:solidFill>
            <a:srgbClr val="34D399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00600"/>
            <a:ext cx="1650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49240"/>
            <a:ext cx="174167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53151" y="2651760"/>
            <a:ext cx="1467351" cy="2011680"/>
          </a:xfrm>
          <a:prstGeom prst="roundRect">
            <a:avLst>
              <a:gd name="adj" fmla="val 4985"/>
            </a:avLst>
          </a:prstGeom>
          <a:solidFill>
            <a:srgbClr val="EF4444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61711" y="4800600"/>
            <a:ext cx="1650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burst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5991" y="5349240"/>
            <a:ext cx="174167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 caught, ~99.99%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57661" y="3657600"/>
            <a:ext cx="1467351" cy="1005840"/>
          </a:xfrm>
          <a:prstGeom prst="roundRect">
            <a:avLst>
              <a:gd name="adj" fmla="val 7273"/>
            </a:avLst>
          </a:prstGeom>
          <a:solidFill>
            <a:srgbClr val="34D399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221" y="4800600"/>
            <a:ext cx="1650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20501" y="5349240"/>
            <a:ext cx="174167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62172" y="2651760"/>
            <a:ext cx="1467351" cy="2011680"/>
          </a:xfrm>
          <a:prstGeom prst="roundRect">
            <a:avLst>
              <a:gd name="adj" fmla="val 4985"/>
            </a:avLst>
          </a:prstGeom>
          <a:solidFill>
            <a:srgbClr val="F59E0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0732" y="4800600"/>
            <a:ext cx="1650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 burst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25012" y="5349240"/>
            <a:ext cx="174167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 caught — genuinely mixed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66683" y="3657600"/>
            <a:ext cx="1467351" cy="1005840"/>
          </a:xfrm>
          <a:prstGeom prst="roundRect">
            <a:avLst>
              <a:gd name="adj" fmla="val 7273"/>
            </a:avLst>
          </a:prstGeom>
          <a:solidFill>
            <a:srgbClr val="34D399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5243" y="4800600"/>
            <a:ext cx="1650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29523" y="5349240"/>
            <a:ext cx="174167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71194" y="2651760"/>
            <a:ext cx="1467351" cy="2011680"/>
          </a:xfrm>
          <a:prstGeom prst="roundRect">
            <a:avLst>
              <a:gd name="adj" fmla="val 4985"/>
            </a:avLst>
          </a:prstGeom>
          <a:solidFill>
            <a:srgbClr val="EF4444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9754" y="4800600"/>
            <a:ext cx="1650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burst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34034" y="5349240"/>
            <a:ext cx="174167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caught, 95–98%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175704" y="3657600"/>
            <a:ext cx="1467351" cy="1005840"/>
          </a:xfrm>
          <a:prstGeom prst="roundRect">
            <a:avLst>
              <a:gd name="adj" fmla="val 7273"/>
            </a:avLst>
          </a:prstGeom>
          <a:solidFill>
            <a:srgbClr val="34D399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84264" y="4800600"/>
            <a:ext cx="1650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38544" y="5349240"/>
            <a:ext cx="174167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real (never synthetic) CICIDS2017 rows, re-validated against the currently deployed model — same story holds after retraining.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Scanning's mixed result is narrated proactively during the live demo, not hidden.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Status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828800"/>
          <a:ext cx="9601200" cy="914400"/>
        </p:xfrm>
        <a:graphic>
          <a:graphicData uri="http://schemas.openxmlformats.org/drawingml/2006/table">
            <a:tbl>
              <a:tblPr/>
              <a:tblGrid>
                <a:gridCol w="68580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Data Integrity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Detection Logic (Hybrid Risk Fusion)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Explainability (SHAP)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Report / Demo Assets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Backend API (FastAPI + MySQL)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Stream Simulator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Generalization (UNSW-NB15)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Full End-to-End Integration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React Dashboard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Sequential-gate design caps overall recall (~54%) — a deliberate trade-off, not a bug</a:t>
            </a:r>
            <a:endParaRPr lang="en-US" sz="1600" dirty="0"/>
          </a:p>
          <a:p>
            <a:pPr marL="228600" indent="-2286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Exfiltration: only 36 raw samples — per-class metrics not statistically meaningful</a:t>
            </a:r>
            <a:endParaRPr lang="en-US" sz="1600" dirty="0"/>
          </a:p>
          <a:p>
            <a:pPr marL="228600" indent="-2286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cross-dataset (UNSW-NB15) generalization check has been run yet</a:t>
            </a:r>
            <a:endParaRPr lang="en-US" sz="1600" dirty="0"/>
          </a:p>
          <a:p>
            <a:pPr marL="228600" indent="-2286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remains the slowest pipeline stage, even after the GradientExplainer swap</a:t>
            </a:r>
            <a:endParaRPr lang="en-US" sz="1600" dirty="0"/>
          </a:p>
          <a:p>
            <a:pPr marL="228600" indent="-2286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latency numbers are hardware-dependent (measured CPU-only here)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React dashboard on top of the existing, tested backend API</a:t>
            </a:r>
            <a:endParaRPr lang="en-US" sz="1600" dirty="0"/>
          </a:p>
          <a:p>
            <a:pPr marL="228600" indent="-2286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end-to-end integration pass once the dashboard exists</a:t>
            </a:r>
            <a:endParaRPr lang="en-US" sz="1600" dirty="0"/>
          </a:p>
          <a:p>
            <a:pPr marL="228600" indent="-2286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UNSW-NB15 and run a cross-dataset generalization check</a:t>
            </a:r>
            <a:endParaRPr lang="en-US" sz="1600" dirty="0"/>
          </a:p>
          <a:p>
            <a:pPr marL="228600" indent="-2286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parallel (non-sequential) architecture to raise the recall ceiling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41248" y="35204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2026-08-25T18:25:26Z</dcterms:created>
  <dcterms:modified xsi:type="dcterms:W3CDTF">2026-08-25T18:25:26Z</dcterms:modified>
</cp:coreProperties>
</file>